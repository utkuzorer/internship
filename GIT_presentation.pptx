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7"/>
  </p:notesMasterIdLst>
  <p:handoutMasterIdLst>
    <p:handoutMasterId r:id="rId18"/>
  </p:handoutMasterIdLst>
  <p:sldIdLst>
    <p:sldId id="256" r:id="rId2"/>
    <p:sldId id="257" r:id="rId3"/>
    <p:sldId id="259" r:id="rId4"/>
    <p:sldId id="261" r:id="rId5"/>
    <p:sldId id="260" r:id="rId6"/>
    <p:sldId id="262" r:id="rId7"/>
    <p:sldId id="264" r:id="rId8"/>
    <p:sldId id="265" r:id="rId9"/>
    <p:sldId id="266" r:id="rId10"/>
    <p:sldId id="267" r:id="rId11"/>
    <p:sldId id="268" r:id="rId12"/>
    <p:sldId id="269" r:id="rId13"/>
    <p:sldId id="258" r:id="rId14"/>
    <p:sldId id="263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B38D549-8269-1AAE-E161-4C2546BE19F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75E324B-F122-7EBE-FA93-6EFE312109D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C9DC23-083B-4A60-90B4-5AF0D5E7F14A}" type="datetime1">
              <a:rPr lang="en-US" smtClean="0"/>
              <a:t>8/5/2026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A58F7F-3DFC-E5C5-2B44-9FA03F3768A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65569F-02B2-3C61-CD48-D2D7F8B7368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671985-E753-44A6-BA84-4EF526C63F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077745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FB3C6E-6F46-4B2B-87D6-E4DFB96111DA}" type="datetime1">
              <a:rPr lang="en-US" smtClean="0"/>
              <a:t>8/5/2026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A5BB69-A74E-451C-A036-BBAD0A662B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67779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466E1-980E-4EF7-9901-D4C41F8D87D9}" type="datetime1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5400000">
            <a:off x="10267698" y="1983440"/>
            <a:ext cx="1126853" cy="55573"/>
          </a:xfrm>
        </p:spPr>
        <p:txBody>
          <a:bodyPr/>
          <a:lstStyle/>
          <a:p>
            <a:r>
              <a:rPr lang="tr-TR" dirty="0"/>
              <a:t>BITES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CD173-550D-4E5A-B412-AE397B3FDF7A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2" descr="BİTES Savunma Uzay ve Havacılık Teknolojileri (@bites.savunma) - Mentions |  Facebook">
            <a:extLst>
              <a:ext uri="{FF2B5EF4-FFF2-40B4-BE49-F238E27FC236}">
                <a16:creationId xmlns:a16="http://schemas.microsoft.com/office/drawing/2014/main" id="{2E9004CE-3CFD-991E-0B69-464D673064A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09617" y="4419601"/>
            <a:ext cx="1243013" cy="1243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294016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2A8DE-CA84-4C15-BEC6-B205ECDC4945}" type="datetime1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BITES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CD173-550D-4E5A-B412-AE397B3FDF7A}" type="slidenum">
              <a:rPr lang="en-US" smtClean="0"/>
              <a:t>‹#›</a:t>
            </a:fld>
            <a:endParaRPr lang="en-US"/>
          </a:p>
        </p:txBody>
      </p:sp>
      <p:pic>
        <p:nvPicPr>
          <p:cNvPr id="4" name="Picture 2" descr="BİTES Savunma Uzay ve Havacılık Teknolojileri (@bites.savunma) - Mentions |  Facebook">
            <a:extLst>
              <a:ext uri="{FF2B5EF4-FFF2-40B4-BE49-F238E27FC236}">
                <a16:creationId xmlns:a16="http://schemas.microsoft.com/office/drawing/2014/main" id="{63EE00FE-0658-F8C3-2CF0-AACD426E277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59963" y="5005386"/>
            <a:ext cx="1243013" cy="1243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012310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D5ED3-559E-4D1F-9219-67D165886154}" type="datetime1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BITES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CD173-550D-4E5A-B412-AE397B3FDF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1710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DE62A-72C8-4E70-8942-E7651AFFBB6D}" type="datetime1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BITES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CD173-550D-4E5A-B412-AE397B3FDF7A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2" descr="BİTES Savunma Uzay ve Havacılık Teknolojileri (@bites.savunma) - Mentions |  Facebook">
            <a:extLst>
              <a:ext uri="{FF2B5EF4-FFF2-40B4-BE49-F238E27FC236}">
                <a16:creationId xmlns:a16="http://schemas.microsoft.com/office/drawing/2014/main" id="{7FE91D95-AED7-ED90-5F6A-E207221A99E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59963" y="5013324"/>
            <a:ext cx="1243013" cy="1243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573636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CDE20-26AD-4C90-8498-C3F2633C0D28}" type="datetime1">
              <a:rPr lang="en-US" smtClean="0"/>
              <a:t>8/5/2026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BITES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CD173-550D-4E5A-B412-AE397B3FDF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3796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7FDD4-A46E-431B-8BB4-CB87EDD5C60F}" type="datetime1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BITES</a:t>
            </a:r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CD173-550D-4E5A-B412-AE397B3FDF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9129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E84A2-A12A-4972-895E-336AFF412989}" type="datetime1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BITES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CD173-550D-4E5A-B412-AE397B3FDF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39467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A7C1B-55C4-4219-81C5-937C98D31EE7}" type="datetime1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BITES</a:t>
            </a:r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CD173-550D-4E5A-B412-AE397B3FDF7A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2" descr="BİTES Savunma Uzay ve Havacılık Teknolojileri (@bites.savunma) - Mentions |  Facebook">
            <a:extLst>
              <a:ext uri="{FF2B5EF4-FFF2-40B4-BE49-F238E27FC236}">
                <a16:creationId xmlns:a16="http://schemas.microsoft.com/office/drawing/2014/main" id="{6B7391C9-F2F1-00A6-5BFC-84D2520F94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59963" y="4776787"/>
            <a:ext cx="1243013" cy="1243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652809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93538F-EC8A-4B1A-B62F-B1C21EA46AE1}" type="datetime1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BITES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CD173-550D-4E5A-B412-AE397B3FDF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47707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799AC-F077-43D5-8A66-763BD9B13C8E}" type="datetime1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BITES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CD173-550D-4E5A-B412-AE397B3FDF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1625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5956F-28F6-4EC7-AEAC-32A39EC97A06}" type="datetime1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BITES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CD173-550D-4E5A-B412-AE397B3FDF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5324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7D17B-7F01-428F-8B7D-7DDB86F8E188}" type="datetime1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BITES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CD173-550D-4E5A-B412-AE397B3FDF7A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447646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18B69-A77C-4B29-82B9-C8DDD1BEC723}" type="datetime1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BITES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CD173-550D-4E5A-B412-AE397B3FDF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4133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2D2FE-12E1-4F45-A41B-B1AB6DFCF46A}" type="datetime1">
              <a:rPr lang="en-US" smtClean="0"/>
              <a:t>8/5/2026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BITES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CD173-550D-4E5A-B412-AE397B3FDF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51137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D36FB-07A0-41FD-B958-4260B992DCAC}" type="datetime1">
              <a:rPr lang="en-US" smtClean="0"/>
              <a:t>8/5/2026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BITES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CD173-550D-4E5A-B412-AE397B3FDF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97653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9BC7B4-72AD-4E35-B2D3-AAE88AE1578C}" type="datetime1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BITES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CD173-550D-4E5A-B412-AE397B3FDF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21614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C4796-7824-44E8-A9CA-8585741952EE}" type="datetime1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BITES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CD173-550D-4E5A-B412-AE397B3FDF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54667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CD20C02-2C59-49E2-8444-9C6E14E2E265}" type="datetime1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r>
              <a:rPr lang="en-US"/>
              <a:t>BITES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6CD173-550D-4E5A-B412-AE397B3FDF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20234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octobot.medium.com/how-git-internally-works-1f0932067bee" TargetMode="External"/><Relationship Id="rId2" Type="http://schemas.openxmlformats.org/officeDocument/2006/relationships/hyperlink" Target="https://www.atlassian.com/git/tutorials/what-is-git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schulich.libguides.com/c.php?g=722465&amp;p=5349840" TargetMode="External"/><Relationship Id="rId4" Type="http://schemas.openxmlformats.org/officeDocument/2006/relationships/hyperlink" Target="https://brilliant.org/wiki/secure-hashing-algorithms/#sha-1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tlassian.com/git/tutorials/saving-changes/git-commit" TargetMode="External"/><Relationship Id="rId2" Type="http://schemas.openxmlformats.org/officeDocument/2006/relationships/hyperlink" Target="https://www.geeksforgeeks.org/git/what-is-git-init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github.com/CankutBoraTuncer/CS102-Git-Tutorial" TargetMode="External"/><Relationship Id="rId4" Type="http://schemas.openxmlformats.org/officeDocument/2006/relationships/hyperlink" Target="https://medium.com/@hazallgultekin/git-nedir-ve-temel-git-komutlar&#305;-nelerdir-fc9be54348f2" TargetMode="Externa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58C036-6333-8A9A-7EBB-27BE19A80EB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tr-TR" dirty="0"/>
              <a:t>GIT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2FAD52-1CB8-906E-12BA-6AF503CE7AB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tr-TR" dirty="0"/>
              <a:t>UTKU ZORER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3F658F-1CA2-800F-FC4D-3FA1319B9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CD173-550D-4E5A-B412-AE397B3FDF7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8443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F99EF-CF5A-0B74-1CD9-FAC475028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WHAT IS GIT?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B6ED4B-FFCB-A148-29CF-BBC18B9CF842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Version control system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Free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Open-source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Simultaneous projects </a:t>
            </a:r>
            <a:endParaRPr lang="tr-TR" dirty="0"/>
          </a:p>
          <a:p>
            <a:r>
              <a:rPr lang="tr-TR" dirty="0"/>
              <a:t>[1]</a:t>
            </a:r>
            <a:endParaRPr lang="en-US" dirty="0"/>
          </a:p>
        </p:txBody>
      </p:sp>
      <p:pic>
        <p:nvPicPr>
          <p:cNvPr id="1026" name="Picture 2" descr="Git · GitHub">
            <a:extLst>
              <a:ext uri="{FF2B5EF4-FFF2-40B4-BE49-F238E27FC236}">
                <a16:creationId xmlns:a16="http://schemas.microsoft.com/office/drawing/2014/main" id="{3FDA01A1-1362-2AF3-E419-71E7E77999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3771" y="710740"/>
            <a:ext cx="4837079" cy="48370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BF12E9-7658-F3DC-A981-D195F513B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CD173-550D-4E5A-B412-AE397B3FDF7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7781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307AA-EFE5-FBA7-A904-5324C5FF5D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386" y="1355827"/>
            <a:ext cx="10634213" cy="1400530"/>
          </a:xfrm>
        </p:spPr>
        <p:txBody>
          <a:bodyPr/>
          <a:lstStyle/>
          <a:p>
            <a:pPr algn="ctr"/>
            <a:r>
              <a:rPr lang="tr-TR" dirty="0"/>
              <a:t>PROS 	AND 		CONS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50BE6B-8693-9DE0-DFCC-2C8B83A768C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Performance</a:t>
            </a:r>
          </a:p>
          <a:p>
            <a:r>
              <a:rPr lang="en-US" dirty="0"/>
              <a:t>Security</a:t>
            </a:r>
          </a:p>
          <a:p>
            <a:r>
              <a:rPr lang="en-US" dirty="0"/>
              <a:t>Flexibility</a:t>
            </a:r>
          </a:p>
          <a:p>
            <a:r>
              <a:rPr lang="en-US" dirty="0"/>
              <a:t>Standardized</a:t>
            </a:r>
            <a:endParaRPr lang="tr-TR" dirty="0"/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r>
              <a:rPr lang="tr-TR" dirty="0"/>
              <a:t>[1]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85F51E-8C56-7DFE-695C-63ED17156BE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Takes time and effort to master</a:t>
            </a:r>
            <a:endParaRPr lang="tr-TR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C242A1-4B9C-8D7F-ABF2-66F87AAF4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CD173-550D-4E5A-B412-AE397B3FDF7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32228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6B8752-62B3-8638-44F0-2388DF8B7F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HOW DOES GIT WORK?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E54A12-DE4E-C082-20F5-A963B8F38B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Mapping values</a:t>
            </a:r>
            <a:r>
              <a:rPr lang="tr-TR" dirty="0"/>
              <a:t> [2]</a:t>
            </a:r>
            <a:endParaRPr lang="en-US" dirty="0"/>
          </a:p>
          <a:p>
            <a:r>
              <a:rPr lang="tr-TR" dirty="0"/>
              <a:t>SHA1 [3]</a:t>
            </a:r>
          </a:p>
          <a:p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better</a:t>
            </a:r>
            <a:r>
              <a:rPr lang="tr-TR" dirty="0"/>
              <a:t> </a:t>
            </a:r>
            <a:r>
              <a:rPr lang="tr-TR" dirty="0" err="1"/>
              <a:t>understand</a:t>
            </a:r>
            <a:r>
              <a:rPr lang="tr-TR" dirty="0"/>
              <a:t>, </a:t>
            </a:r>
            <a:r>
              <a:rPr lang="tr-TR" dirty="0" err="1"/>
              <a:t>one</a:t>
            </a:r>
            <a:r>
              <a:rPr lang="tr-TR" dirty="0"/>
              <a:t> </a:t>
            </a:r>
            <a:r>
              <a:rPr lang="tr-TR" dirty="0" err="1"/>
              <a:t>should</a:t>
            </a:r>
            <a:r>
              <a:rPr lang="tr-TR" dirty="0"/>
              <a:t> </a:t>
            </a:r>
            <a:r>
              <a:rPr lang="tr-TR" dirty="0" err="1"/>
              <a:t>know</a:t>
            </a:r>
            <a:r>
              <a:rPr lang="tr-TR" dirty="0"/>
              <a:t> </a:t>
            </a:r>
            <a:r>
              <a:rPr lang="tr-TR" dirty="0" err="1"/>
              <a:t>basic</a:t>
            </a:r>
            <a:r>
              <a:rPr lang="tr-TR" dirty="0"/>
              <a:t> </a:t>
            </a:r>
            <a:r>
              <a:rPr lang="tr-TR" dirty="0" err="1"/>
              <a:t>commands</a:t>
            </a:r>
            <a:r>
              <a:rPr lang="tr-TR" dirty="0"/>
              <a:t>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200FF4-8683-473B-2B61-0ED6BB709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CD173-550D-4E5A-B412-AE397B3FDF7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3769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CF7A3-7E25-565A-EB0B-7EE0D8B94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BASIC GIT COMMANDS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65F54-54AC-FC14-457F-AB034C826E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Init</a:t>
            </a:r>
          </a:p>
          <a:p>
            <a:r>
              <a:rPr lang="tr-TR" dirty="0" err="1"/>
              <a:t>Clone</a:t>
            </a:r>
            <a:endParaRPr lang="tr-TR" dirty="0"/>
          </a:p>
          <a:p>
            <a:r>
              <a:rPr lang="tr-TR" dirty="0" err="1"/>
              <a:t>Add</a:t>
            </a:r>
            <a:endParaRPr lang="tr-TR" dirty="0"/>
          </a:p>
          <a:p>
            <a:r>
              <a:rPr lang="tr-TR" dirty="0" err="1"/>
              <a:t>Commit</a:t>
            </a:r>
            <a:endParaRPr lang="tr-TR" dirty="0"/>
          </a:p>
          <a:p>
            <a:r>
              <a:rPr lang="tr-TR" dirty="0" err="1"/>
              <a:t>Status</a:t>
            </a:r>
            <a:endParaRPr lang="tr-TR" dirty="0"/>
          </a:p>
          <a:p>
            <a:r>
              <a:rPr lang="tr-TR" dirty="0"/>
              <a:t>Log</a:t>
            </a:r>
          </a:p>
          <a:p>
            <a:r>
              <a:rPr lang="tr-TR" dirty="0" err="1"/>
              <a:t>Diff</a:t>
            </a:r>
            <a:endParaRPr lang="tr-TR" dirty="0"/>
          </a:p>
          <a:p>
            <a:endParaRPr lang="tr-TR" dirty="0"/>
          </a:p>
          <a:p>
            <a:pPr marL="0" indent="0">
              <a:buNone/>
            </a:pPr>
            <a:r>
              <a:rPr lang="tr-TR" dirty="0"/>
              <a:t>[4]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12F1D9-EF31-FDCD-3453-EDB4A9462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CD173-550D-4E5A-B412-AE397B3FDF7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3776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E53300-C6EE-AF45-8922-C3AF65B46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Git </a:t>
            </a:r>
            <a:r>
              <a:rPr lang="tr-TR" dirty="0" err="1"/>
              <a:t>init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3F64F4-847A-AF0E-744B-F69632A724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err="1"/>
              <a:t>Creates</a:t>
            </a:r>
            <a:r>
              <a:rPr lang="tr-TR" dirty="0"/>
              <a:t> an </a:t>
            </a:r>
            <a:r>
              <a:rPr lang="tr-TR" dirty="0" err="1"/>
              <a:t>empty</a:t>
            </a:r>
            <a:r>
              <a:rPr lang="tr-TR" dirty="0"/>
              <a:t> .git </a:t>
            </a:r>
            <a:r>
              <a:rPr lang="tr-TR" dirty="0" err="1"/>
              <a:t>repository</a:t>
            </a:r>
            <a:endParaRPr lang="tr-TR" dirty="0"/>
          </a:p>
          <a:p>
            <a:r>
              <a:rPr lang="tr-TR" dirty="0" err="1"/>
              <a:t>Used</a:t>
            </a:r>
            <a:r>
              <a:rPr lang="tr-TR" dirty="0"/>
              <a:t> </a:t>
            </a:r>
            <a:r>
              <a:rPr lang="tr-TR" dirty="0" err="1"/>
              <a:t>when</a:t>
            </a:r>
            <a:r>
              <a:rPr lang="tr-TR" dirty="0"/>
              <a:t> </a:t>
            </a:r>
            <a:r>
              <a:rPr lang="tr-TR" dirty="0" err="1"/>
              <a:t>one</a:t>
            </a:r>
            <a:r>
              <a:rPr lang="tr-TR" dirty="0"/>
              <a:t> </a:t>
            </a:r>
            <a:r>
              <a:rPr lang="tr-TR" dirty="0" err="1"/>
              <a:t>starts</a:t>
            </a:r>
            <a:r>
              <a:rPr lang="tr-TR" dirty="0"/>
              <a:t> a </a:t>
            </a:r>
            <a:r>
              <a:rPr lang="tr-TR" dirty="0" err="1"/>
              <a:t>new</a:t>
            </a:r>
            <a:r>
              <a:rPr lang="tr-TR" dirty="0"/>
              <a:t> Project</a:t>
            </a:r>
          </a:p>
          <a:p>
            <a:endParaRPr lang="tr-TR" dirty="0"/>
          </a:p>
          <a:p>
            <a:endParaRPr lang="tr-TR" dirty="0"/>
          </a:p>
          <a:p>
            <a:endParaRPr lang="tr-TR" dirty="0"/>
          </a:p>
          <a:p>
            <a:endParaRPr lang="tr-TR" dirty="0"/>
          </a:p>
          <a:p>
            <a:endParaRPr lang="tr-TR" dirty="0"/>
          </a:p>
          <a:p>
            <a:pPr marL="0" indent="0">
              <a:buNone/>
            </a:pPr>
            <a:r>
              <a:rPr lang="tr-TR" dirty="0"/>
              <a:t>[5]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CE7E24-B051-C170-E78C-7339794D8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CD173-550D-4E5A-B412-AE397B3FDF7A}" type="slidenum">
              <a:rPr lang="en-US" smtClean="0"/>
              <a:t>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C967B7C-E011-2D6A-1A10-EA51FF4E64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312" y="3826808"/>
            <a:ext cx="4905375" cy="64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25708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4B0667-01E1-9D3F-57FE-199660023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Git </a:t>
            </a:r>
            <a:r>
              <a:rPr lang="tr-TR" dirty="0" err="1"/>
              <a:t>clone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97412A-57EF-6DD8-CD23-684FFB09D7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err="1"/>
              <a:t>Copy</a:t>
            </a:r>
            <a:r>
              <a:rPr lang="tr-TR" dirty="0"/>
              <a:t> of an </a:t>
            </a:r>
            <a:r>
              <a:rPr lang="tr-TR" dirty="0" err="1"/>
              <a:t>existing</a:t>
            </a:r>
            <a:r>
              <a:rPr lang="tr-TR" dirty="0"/>
              <a:t> </a:t>
            </a:r>
            <a:r>
              <a:rPr lang="tr-TR" dirty="0" err="1"/>
              <a:t>repository</a:t>
            </a:r>
            <a:r>
              <a:rPr lang="tr-TR" dirty="0"/>
              <a:t> [4]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6301AB-247B-4A82-49F2-5975B9679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CD173-550D-4E5A-B412-AE397B3FDF7A}" type="slidenum">
              <a:rPr lang="en-US" smtClean="0"/>
              <a:t>7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74DFF49-3A9C-C56D-12BA-F053B0DD58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312" y="3429000"/>
            <a:ext cx="6391275" cy="1571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29224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6996D-27DA-A29B-A372-CCB79096BA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Git </a:t>
            </a:r>
            <a:r>
              <a:rPr lang="tr-TR" dirty="0" err="1"/>
              <a:t>add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E92775-D576-05AA-BFE9-99A7C0CB8A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err="1"/>
              <a:t>Adds</a:t>
            </a:r>
            <a:r>
              <a:rPr lang="tr-TR" dirty="0"/>
              <a:t> </a:t>
            </a:r>
            <a:r>
              <a:rPr lang="tr-TR" dirty="0" err="1"/>
              <a:t>changes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current</a:t>
            </a:r>
            <a:r>
              <a:rPr lang="tr-TR" dirty="0"/>
              <a:t> </a:t>
            </a:r>
            <a:r>
              <a:rPr lang="tr-TR" dirty="0" err="1"/>
              <a:t>work</a:t>
            </a:r>
            <a:r>
              <a:rPr lang="tr-TR" dirty="0"/>
              <a:t> </a:t>
            </a:r>
            <a:r>
              <a:rPr lang="tr-TR" dirty="0" err="1"/>
              <a:t>directory</a:t>
            </a:r>
            <a:r>
              <a:rPr lang="tr-TR" dirty="0"/>
              <a:t> </a:t>
            </a:r>
          </a:p>
          <a:p>
            <a:endParaRPr lang="tr-TR" dirty="0"/>
          </a:p>
          <a:p>
            <a:endParaRPr lang="tr-TR" dirty="0"/>
          </a:p>
          <a:p>
            <a:endParaRPr lang="tr-TR" dirty="0"/>
          </a:p>
          <a:p>
            <a:endParaRPr lang="tr-TR" dirty="0"/>
          </a:p>
          <a:p>
            <a:endParaRPr lang="tr-TR" dirty="0"/>
          </a:p>
          <a:p>
            <a:endParaRPr lang="tr-TR" dirty="0"/>
          </a:p>
          <a:p>
            <a:pPr marL="0" indent="0">
              <a:buNone/>
            </a:pPr>
            <a:r>
              <a:rPr lang="tr-TR" dirty="0"/>
              <a:t>[4]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10B603-E542-11A3-7443-15E7173B8B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CD173-550D-4E5A-B412-AE397B3FDF7A}" type="slidenum">
              <a:rPr lang="en-US" smtClean="0"/>
              <a:t>8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49EF6B0-09CC-D8C2-4D78-4D4F687EA3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307" y="3238500"/>
            <a:ext cx="4486275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09828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30836-77B6-9E51-979A-71F88FCDB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Git </a:t>
            </a:r>
            <a:r>
              <a:rPr lang="tr-TR" dirty="0" err="1"/>
              <a:t>commit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11729C-FFB3-B610-817B-6D69DCABD6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err="1"/>
              <a:t>Takes</a:t>
            </a:r>
            <a:r>
              <a:rPr lang="tr-TR" dirty="0"/>
              <a:t> a </a:t>
            </a:r>
            <a:r>
              <a:rPr lang="tr-TR" dirty="0" err="1"/>
              <a:t>snaphot</a:t>
            </a:r>
            <a:r>
              <a:rPr lang="tr-TR" dirty="0"/>
              <a:t> of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current</a:t>
            </a:r>
            <a:r>
              <a:rPr lang="tr-TR" dirty="0"/>
              <a:t> </a:t>
            </a:r>
            <a:r>
              <a:rPr lang="tr-TR" dirty="0" err="1"/>
              <a:t>changes</a:t>
            </a:r>
            <a:endParaRPr lang="tr-TR" dirty="0"/>
          </a:p>
          <a:p>
            <a:r>
              <a:rPr lang="tr-TR" dirty="0" err="1"/>
              <a:t>Acts</a:t>
            </a:r>
            <a:r>
              <a:rPr lang="tr-TR" dirty="0"/>
              <a:t> as a «</a:t>
            </a:r>
            <a:r>
              <a:rPr lang="tr-TR" dirty="0" err="1"/>
              <a:t>safe</a:t>
            </a:r>
            <a:r>
              <a:rPr lang="tr-TR" dirty="0"/>
              <a:t> </a:t>
            </a:r>
            <a:r>
              <a:rPr lang="tr-TR" dirty="0" err="1"/>
              <a:t>point</a:t>
            </a:r>
            <a:r>
              <a:rPr lang="tr-TR" dirty="0"/>
              <a:t>»</a:t>
            </a:r>
          </a:p>
          <a:p>
            <a:r>
              <a:rPr lang="tr-TR" dirty="0" err="1"/>
              <a:t>Building</a:t>
            </a:r>
            <a:r>
              <a:rPr lang="tr-TR" dirty="0"/>
              <a:t> </a:t>
            </a:r>
            <a:r>
              <a:rPr lang="tr-TR" dirty="0" err="1"/>
              <a:t>blocks</a:t>
            </a:r>
            <a:r>
              <a:rPr lang="tr-TR" dirty="0"/>
              <a:t> </a:t>
            </a:r>
            <a:r>
              <a:rPr lang="tr-TR" dirty="0" err="1"/>
              <a:t>for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Project </a:t>
            </a:r>
            <a:r>
              <a:rPr lang="tr-TR" dirty="0" err="1"/>
              <a:t>timeline</a:t>
            </a:r>
            <a:endParaRPr lang="tr-TR" dirty="0"/>
          </a:p>
          <a:p>
            <a:endParaRPr lang="tr-TR" dirty="0"/>
          </a:p>
          <a:p>
            <a:endParaRPr lang="tr-TR" dirty="0"/>
          </a:p>
          <a:p>
            <a:endParaRPr lang="tr-TR" dirty="0"/>
          </a:p>
          <a:p>
            <a:endParaRPr lang="tr-TR" dirty="0"/>
          </a:p>
          <a:p>
            <a:pPr marL="0" indent="0">
              <a:buNone/>
            </a:pPr>
            <a:r>
              <a:rPr lang="tr-TR" dirty="0"/>
              <a:t>[6]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EE5476-0F53-3723-AC1A-D73970DDE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CD173-550D-4E5A-B412-AE397B3FDF7A}" type="slidenum">
              <a:rPr lang="en-US" smtClean="0"/>
              <a:t>9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567B120-88C5-4552-4E98-E504C1B02A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312" y="3812520"/>
            <a:ext cx="4714875" cy="676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6041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04119-4214-3B5F-6C11-B2FCDF8C5C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Git </a:t>
            </a:r>
            <a:r>
              <a:rPr lang="tr-TR" dirty="0" err="1"/>
              <a:t>status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BC205E-ECD7-9F9A-A7AA-3B77BBCC51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err="1"/>
              <a:t>Fetches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current</a:t>
            </a:r>
            <a:r>
              <a:rPr lang="tr-TR" dirty="0"/>
              <a:t> </a:t>
            </a:r>
            <a:r>
              <a:rPr lang="tr-TR" dirty="0" err="1"/>
              <a:t>state</a:t>
            </a:r>
            <a:r>
              <a:rPr lang="tr-TR" dirty="0"/>
              <a:t> of </a:t>
            </a:r>
            <a:r>
              <a:rPr lang="tr-TR" dirty="0" err="1"/>
              <a:t>the</a:t>
            </a:r>
            <a:r>
              <a:rPr lang="tr-TR" dirty="0"/>
              <a:t> Project in </a:t>
            </a:r>
            <a:r>
              <a:rPr lang="tr-TR" dirty="0" err="1"/>
              <a:t>detail</a:t>
            </a:r>
            <a:endParaRPr lang="tr-TR" dirty="0"/>
          </a:p>
          <a:p>
            <a:r>
              <a:rPr lang="tr-TR" dirty="0" err="1"/>
              <a:t>Lists</a:t>
            </a:r>
            <a:r>
              <a:rPr lang="tr-TR" dirty="0"/>
              <a:t> </a:t>
            </a:r>
            <a:r>
              <a:rPr lang="tr-TR" dirty="0" err="1"/>
              <a:t>changes</a:t>
            </a:r>
            <a:r>
              <a:rPr lang="tr-TR" dirty="0"/>
              <a:t> </a:t>
            </a:r>
            <a:r>
              <a:rPr lang="tr-TR" dirty="0" err="1"/>
              <a:t>that</a:t>
            </a:r>
            <a:r>
              <a:rPr lang="tr-TR" dirty="0"/>
              <a:t> </a:t>
            </a:r>
            <a:r>
              <a:rPr lang="tr-TR" dirty="0" err="1"/>
              <a:t>are</a:t>
            </a:r>
            <a:r>
              <a:rPr lang="tr-TR" dirty="0"/>
              <a:t> </a:t>
            </a:r>
            <a:r>
              <a:rPr lang="tr-TR" dirty="0" err="1"/>
              <a:t>whether</a:t>
            </a:r>
            <a:r>
              <a:rPr lang="tr-TR" dirty="0"/>
              <a:t> </a:t>
            </a:r>
            <a:r>
              <a:rPr lang="tr-TR" dirty="0" err="1"/>
              <a:t>commited</a:t>
            </a:r>
            <a:r>
              <a:rPr lang="tr-TR" dirty="0"/>
              <a:t> </a:t>
            </a:r>
            <a:r>
              <a:rPr lang="tr-TR" dirty="0" err="1"/>
              <a:t>or</a:t>
            </a:r>
            <a:r>
              <a:rPr lang="tr-TR" dirty="0"/>
              <a:t> not</a:t>
            </a:r>
          </a:p>
          <a:p>
            <a:endParaRPr lang="tr-TR" dirty="0"/>
          </a:p>
          <a:p>
            <a:endParaRPr lang="tr-TR" dirty="0"/>
          </a:p>
          <a:p>
            <a:endParaRPr lang="tr-TR" dirty="0"/>
          </a:p>
          <a:p>
            <a:endParaRPr lang="tr-TR" dirty="0"/>
          </a:p>
          <a:p>
            <a:endParaRPr lang="tr-TR" dirty="0"/>
          </a:p>
          <a:p>
            <a:endParaRPr lang="tr-TR" dirty="0"/>
          </a:p>
          <a:p>
            <a:pPr marL="0" indent="0">
              <a:buNone/>
            </a:pPr>
            <a:r>
              <a:rPr lang="tr-TR" dirty="0"/>
              <a:t>[7]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09FA51-176E-C02E-2AC6-680CEB54A3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CD173-550D-4E5A-B412-AE397B3FDF7A}" type="slidenum">
              <a:rPr lang="en-US" smtClean="0"/>
              <a:t>10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6AEC63D-B1E0-6304-F65B-04259DD41A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312" y="3429000"/>
            <a:ext cx="4648200" cy="10477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2F613BD-A9C9-1E83-6725-A950E911F9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1512" y="3290887"/>
            <a:ext cx="4619625" cy="1323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54322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41F105-26E6-B316-075F-DB7D0F6B6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Git log </a:t>
            </a:r>
            <a:r>
              <a:rPr lang="tr-TR" dirty="0" err="1"/>
              <a:t>and</a:t>
            </a:r>
            <a:r>
              <a:rPr lang="tr-TR" dirty="0"/>
              <a:t> Git </a:t>
            </a:r>
            <a:r>
              <a:rPr lang="tr-TR" dirty="0" err="1"/>
              <a:t>diff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DABE78-4A7F-6310-AF87-37A23D095A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dirty="0"/>
              <a:t>Git log:</a:t>
            </a:r>
          </a:p>
          <a:p>
            <a:pPr lvl="1"/>
            <a:r>
              <a:rPr lang="tr-TR" dirty="0" err="1"/>
              <a:t>Shows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whole</a:t>
            </a:r>
            <a:r>
              <a:rPr lang="tr-TR" dirty="0"/>
              <a:t> </a:t>
            </a:r>
            <a:r>
              <a:rPr lang="tr-TR" dirty="0" err="1"/>
              <a:t>history</a:t>
            </a:r>
            <a:r>
              <a:rPr lang="tr-TR" dirty="0"/>
              <a:t> of </a:t>
            </a:r>
            <a:r>
              <a:rPr lang="tr-TR" dirty="0" err="1"/>
              <a:t>changes</a:t>
            </a:r>
            <a:r>
              <a:rPr lang="tr-TR" dirty="0"/>
              <a:t> in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timeline</a:t>
            </a:r>
            <a:endParaRPr lang="tr-TR" dirty="0"/>
          </a:p>
          <a:p>
            <a:r>
              <a:rPr lang="tr-TR" dirty="0"/>
              <a:t>Git </a:t>
            </a:r>
            <a:r>
              <a:rPr lang="tr-TR" dirty="0" err="1"/>
              <a:t>diff</a:t>
            </a:r>
            <a:r>
              <a:rPr lang="tr-TR" dirty="0"/>
              <a:t>:</a:t>
            </a:r>
          </a:p>
          <a:p>
            <a:pPr lvl="1"/>
            <a:r>
              <a:rPr lang="tr-TR" dirty="0" err="1"/>
              <a:t>Shows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differences</a:t>
            </a:r>
            <a:r>
              <a:rPr lang="tr-TR" dirty="0"/>
              <a:t> in </a:t>
            </a:r>
            <a:r>
              <a:rPr lang="tr-TR" dirty="0" err="1"/>
              <a:t>distinct</a:t>
            </a:r>
            <a:r>
              <a:rPr lang="tr-TR" dirty="0"/>
              <a:t> </a:t>
            </a:r>
            <a:r>
              <a:rPr lang="tr-TR" dirty="0" err="1"/>
              <a:t>commits</a:t>
            </a:r>
            <a:r>
              <a:rPr lang="tr-TR" dirty="0"/>
              <a:t>, </a:t>
            </a:r>
            <a:r>
              <a:rPr lang="tr-TR" dirty="0" err="1"/>
              <a:t>branches</a:t>
            </a:r>
            <a:r>
              <a:rPr lang="tr-TR" dirty="0"/>
              <a:t>, </a:t>
            </a:r>
            <a:r>
              <a:rPr lang="tr-TR" dirty="0" err="1"/>
              <a:t>or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working</a:t>
            </a:r>
            <a:r>
              <a:rPr lang="tr-TR" dirty="0"/>
              <a:t> </a:t>
            </a:r>
            <a:r>
              <a:rPr lang="tr-TR" dirty="0" err="1"/>
              <a:t>directories</a:t>
            </a:r>
            <a:endParaRPr lang="tr-TR" dirty="0"/>
          </a:p>
          <a:p>
            <a:pPr marL="457200" lvl="1" indent="0">
              <a:buNone/>
            </a:pPr>
            <a:endParaRPr lang="tr-TR" dirty="0"/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r>
              <a:rPr lang="tr-TR" dirty="0"/>
              <a:t>[4]	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ACE45B-2929-318D-A421-9E6DB52EE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CD173-550D-4E5A-B412-AE397B3FDF7A}" type="slidenum">
              <a:rPr lang="en-US" smtClean="0"/>
              <a:t>11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FFC0CD8-16D1-5887-5AE1-CD473273AC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1150" y="4150658"/>
            <a:ext cx="4514850" cy="17526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3FE7CE1-AF07-6241-8CCB-D887E7D7C9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833178"/>
            <a:ext cx="5353050" cy="1171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92328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44191-7E29-A4F6-4A7D-6030E53D1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Conclusion</a:t>
            </a:r>
            <a:r>
              <a:rPr lang="tr-TR" dirty="0"/>
              <a:t>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E91732-42AF-74D8-82B2-D2F9E9F49F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tr-TR" dirty="0" err="1"/>
              <a:t>Overall</a:t>
            </a:r>
            <a:r>
              <a:rPr lang="tr-TR" dirty="0"/>
              <a:t>, git is an </a:t>
            </a:r>
            <a:r>
              <a:rPr lang="tr-TR" dirty="0" err="1"/>
              <a:t>open-source</a:t>
            </a:r>
            <a:r>
              <a:rPr lang="tr-TR" dirty="0"/>
              <a:t> </a:t>
            </a:r>
            <a:r>
              <a:rPr lang="tr-TR" dirty="0" err="1"/>
              <a:t>version</a:t>
            </a:r>
            <a:r>
              <a:rPr lang="tr-TR" dirty="0"/>
              <a:t> </a:t>
            </a:r>
            <a:r>
              <a:rPr lang="tr-TR" dirty="0" err="1"/>
              <a:t>control</a:t>
            </a:r>
            <a:r>
              <a:rPr lang="tr-TR" dirty="0"/>
              <a:t> </a:t>
            </a:r>
            <a:r>
              <a:rPr lang="tr-TR" dirty="0" err="1"/>
              <a:t>system</a:t>
            </a:r>
            <a:r>
              <a:rPr lang="tr-TR" dirty="0"/>
              <a:t> </a:t>
            </a:r>
            <a:r>
              <a:rPr lang="tr-TR" dirty="0" err="1"/>
              <a:t>that</a:t>
            </a:r>
            <a:r>
              <a:rPr lang="tr-TR" dirty="0"/>
              <a:t> is </a:t>
            </a:r>
            <a:r>
              <a:rPr lang="tr-TR" dirty="0" err="1"/>
              <a:t>widely</a:t>
            </a:r>
            <a:r>
              <a:rPr lang="tr-TR" dirty="0"/>
              <a:t> </a:t>
            </a:r>
            <a:r>
              <a:rPr lang="tr-TR" dirty="0" err="1"/>
              <a:t>used</a:t>
            </a:r>
            <a:r>
              <a:rPr lang="tr-TR" dirty="0"/>
              <a:t> </a:t>
            </a:r>
            <a:r>
              <a:rPr lang="tr-TR" dirty="0" err="1"/>
              <a:t>contemporarily</a:t>
            </a:r>
            <a:r>
              <a:rPr lang="tr-TR" dirty="0"/>
              <a:t>. </a:t>
            </a:r>
            <a:r>
              <a:rPr lang="tr-TR" dirty="0" err="1"/>
              <a:t>It</a:t>
            </a:r>
            <a:r>
              <a:rPr lang="tr-TR" dirty="0"/>
              <a:t> </a:t>
            </a:r>
            <a:r>
              <a:rPr lang="tr-TR" dirty="0" err="1"/>
              <a:t>enables</a:t>
            </a:r>
            <a:r>
              <a:rPr lang="tr-TR" dirty="0"/>
              <a:t> </a:t>
            </a:r>
            <a:r>
              <a:rPr lang="tr-TR" dirty="0" err="1"/>
              <a:t>distinct</a:t>
            </a:r>
            <a:r>
              <a:rPr lang="tr-TR" dirty="0"/>
              <a:t> </a:t>
            </a:r>
            <a:r>
              <a:rPr lang="tr-TR" dirty="0" err="1"/>
              <a:t>users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collaborate</a:t>
            </a:r>
            <a:r>
              <a:rPr lang="tr-TR" dirty="0"/>
              <a:t> on a </a:t>
            </a:r>
            <a:r>
              <a:rPr lang="tr-TR" dirty="0" err="1"/>
              <a:t>project</a:t>
            </a:r>
            <a:r>
              <a:rPr lang="tr-TR" dirty="0"/>
              <a:t> </a:t>
            </a:r>
            <a:r>
              <a:rPr lang="tr-TR" dirty="0" err="1"/>
              <a:t>by</a:t>
            </a:r>
            <a:r>
              <a:rPr lang="tr-TR" dirty="0"/>
              <a:t> </a:t>
            </a:r>
            <a:r>
              <a:rPr lang="tr-TR" dirty="0" err="1"/>
              <a:t>providing</a:t>
            </a:r>
            <a:r>
              <a:rPr lang="tr-TR" dirty="0"/>
              <a:t> </a:t>
            </a:r>
            <a:r>
              <a:rPr lang="tr-TR" dirty="0" err="1"/>
              <a:t>them</a:t>
            </a:r>
            <a:r>
              <a:rPr lang="tr-TR" dirty="0"/>
              <a:t> a </a:t>
            </a:r>
            <a:r>
              <a:rPr lang="tr-TR" dirty="0" err="1"/>
              <a:t>fully</a:t>
            </a:r>
            <a:r>
              <a:rPr lang="tr-TR" dirty="0"/>
              <a:t> </a:t>
            </a:r>
            <a:r>
              <a:rPr lang="tr-TR" dirty="0" err="1"/>
              <a:t>controlled</a:t>
            </a:r>
            <a:r>
              <a:rPr lang="tr-TR" dirty="0"/>
              <a:t> </a:t>
            </a:r>
            <a:r>
              <a:rPr lang="tr-TR" dirty="0" err="1"/>
              <a:t>timeline</a:t>
            </a:r>
            <a:r>
              <a:rPr lang="tr-TR" dirty="0"/>
              <a:t> of </a:t>
            </a:r>
            <a:r>
              <a:rPr lang="tr-TR" dirty="0" err="1"/>
              <a:t>that</a:t>
            </a:r>
            <a:r>
              <a:rPr lang="tr-TR" dirty="0"/>
              <a:t> </a:t>
            </a:r>
            <a:r>
              <a:rPr lang="tr-TR" dirty="0" err="1"/>
              <a:t>specific</a:t>
            </a:r>
            <a:r>
              <a:rPr lang="tr-TR" dirty="0"/>
              <a:t> </a:t>
            </a:r>
            <a:r>
              <a:rPr lang="tr-TR" dirty="0" err="1"/>
              <a:t>project</a:t>
            </a:r>
            <a:r>
              <a:rPr lang="tr-TR" dirty="0"/>
              <a:t>. </a:t>
            </a:r>
            <a:r>
              <a:rPr lang="tr-TR" dirty="0" err="1"/>
              <a:t>It</a:t>
            </a:r>
            <a:r>
              <a:rPr lang="tr-TR" dirty="0"/>
              <a:t> is </a:t>
            </a:r>
            <a:r>
              <a:rPr lang="tr-TR" dirty="0" err="1"/>
              <a:t>challenging</a:t>
            </a:r>
            <a:r>
              <a:rPr lang="tr-TR" dirty="0"/>
              <a:t> </a:t>
            </a:r>
            <a:r>
              <a:rPr lang="tr-TR" dirty="0" err="1"/>
              <a:t>for</a:t>
            </a:r>
            <a:r>
              <a:rPr lang="tr-TR" dirty="0"/>
              <a:t> </a:t>
            </a:r>
            <a:r>
              <a:rPr lang="tr-TR" dirty="0" err="1"/>
              <a:t>newcomers</a:t>
            </a:r>
            <a:r>
              <a:rPr lang="tr-TR" dirty="0"/>
              <a:t> of </a:t>
            </a:r>
            <a:r>
              <a:rPr lang="tr-TR" dirty="0" err="1"/>
              <a:t>different</a:t>
            </a:r>
            <a:r>
              <a:rPr lang="tr-TR" dirty="0"/>
              <a:t> </a:t>
            </a:r>
            <a:r>
              <a:rPr lang="tr-TR" dirty="0" err="1"/>
              <a:t>aspects</a:t>
            </a:r>
            <a:r>
              <a:rPr lang="tr-TR" dirty="0"/>
              <a:t> in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industry</a:t>
            </a:r>
            <a:r>
              <a:rPr lang="tr-TR" dirty="0"/>
              <a:t>. </a:t>
            </a:r>
            <a:r>
              <a:rPr lang="tr-TR" dirty="0" err="1"/>
              <a:t>However</a:t>
            </a:r>
            <a:r>
              <a:rPr lang="tr-TR" dirty="0"/>
              <a:t>, it </a:t>
            </a:r>
            <a:r>
              <a:rPr lang="tr-TR" dirty="0" err="1"/>
              <a:t>comes</a:t>
            </a:r>
            <a:r>
              <a:rPr lang="tr-TR" dirty="0"/>
              <a:t> </a:t>
            </a:r>
            <a:r>
              <a:rPr lang="tr-TR" dirty="0" err="1"/>
              <a:t>handy</a:t>
            </a:r>
            <a:r>
              <a:rPr lang="tr-TR" dirty="0"/>
              <a:t> </a:t>
            </a:r>
            <a:r>
              <a:rPr lang="tr-TR" dirty="0" err="1"/>
              <a:t>for</a:t>
            </a:r>
            <a:r>
              <a:rPr lang="tr-TR" dirty="0"/>
              <a:t> </a:t>
            </a:r>
            <a:r>
              <a:rPr lang="tr-TR" dirty="0" err="1"/>
              <a:t>managing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operating</a:t>
            </a:r>
            <a:r>
              <a:rPr lang="tr-TR" dirty="0"/>
              <a:t> </a:t>
            </a:r>
            <a:r>
              <a:rPr lang="tr-TR" dirty="0" err="1"/>
              <a:t>large</a:t>
            </a:r>
            <a:r>
              <a:rPr lang="tr-TR" dirty="0"/>
              <a:t> </a:t>
            </a:r>
            <a:r>
              <a:rPr lang="tr-TR" dirty="0" err="1"/>
              <a:t>scale</a:t>
            </a:r>
            <a:r>
              <a:rPr lang="tr-TR" dirty="0"/>
              <a:t> </a:t>
            </a:r>
            <a:r>
              <a:rPr lang="tr-TR" dirty="0" err="1"/>
              <a:t>projects</a:t>
            </a:r>
            <a:r>
              <a:rPr lang="tr-TR" dirty="0"/>
              <a:t> </a:t>
            </a:r>
            <a:r>
              <a:rPr lang="tr-TR" dirty="0" err="1"/>
              <a:t>efficiently</a:t>
            </a:r>
            <a:r>
              <a:rPr lang="tr-TR" dirty="0"/>
              <a:t>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51F45F-8D50-923E-554F-C3938645A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CD173-550D-4E5A-B412-AE397B3FDF7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202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1FF64-446D-3BD5-54E4-8C97D0625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REFERRENCES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2B8328-F4D4-4753-B6D4-58159CD725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tr-TR" dirty="0"/>
              <a:t>[1]</a:t>
            </a:r>
            <a:r>
              <a:rPr lang="tr-TR" sz="2000" kern="100" dirty="0">
                <a:effectLst/>
                <a:latin typeface="Franklin Gothic Medium" panose="020B06030201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“</a:t>
            </a:r>
            <a:r>
              <a:rPr lang="en-US" sz="2000" kern="100" dirty="0">
                <a:effectLst/>
                <a:latin typeface="Franklin Gothic Medium" panose="020B06030201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What is Git?</a:t>
            </a:r>
            <a:r>
              <a:rPr lang="tr-TR" sz="2000" kern="100" dirty="0">
                <a:effectLst/>
                <a:latin typeface="Franklin Gothic Medium" panose="020B06030201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”</a:t>
            </a:r>
            <a:r>
              <a:rPr lang="en-US" sz="2000" kern="100" dirty="0">
                <a:effectLst/>
                <a:latin typeface="Franklin Gothic Medium" panose="020B06030201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[Online]. Available</a:t>
            </a:r>
            <a:r>
              <a:rPr lang="tr-TR" sz="2000" kern="100" dirty="0">
                <a:effectLst/>
                <a:latin typeface="Franklin Gothic Medium" panose="020B06030201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   </a:t>
            </a:r>
            <a:r>
              <a:rPr lang="tr-TR" sz="2000" kern="100" dirty="0">
                <a:effectLst/>
                <a:latin typeface="Franklin Gothic Medium" panose="020B0603020102020204" pitchFamily="34" charset="0"/>
                <a:ea typeface="Aptos" panose="020B0004020202020204" pitchFamily="34" charset="0"/>
                <a:cs typeface="Times New Roman" panose="02020603050405020304" pitchFamily="18" charset="0"/>
                <a:hlinkClick r:id="rId2"/>
              </a:rPr>
              <a:t>https://www.atlassian.com/git/tutorials/what-is-git</a:t>
            </a:r>
            <a:r>
              <a:rPr lang="en-US" sz="2000" kern="100" dirty="0">
                <a:effectLst/>
                <a:latin typeface="Franklin Gothic Medium" panose="020B06030201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r>
              <a:rPr lang="tr-TR" sz="2000" kern="100" dirty="0">
                <a:latin typeface="Franklin Gothic Medium" panose="020B06030201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tr-TR" sz="2000" kern="100" dirty="0">
                <a:effectLst/>
                <a:latin typeface="Franklin Gothic Medium" panose="020B06030201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>
                <a:effectLst/>
                <a:latin typeface="Franklin Gothic Medium" panose="020B06030201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Accessed: </a:t>
            </a:r>
            <a:r>
              <a:rPr lang="tr-TR" sz="2000" kern="100" dirty="0" err="1">
                <a:effectLst/>
                <a:latin typeface="Franklin Gothic Medium" panose="020B06030201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August</a:t>
            </a:r>
            <a:r>
              <a:rPr lang="tr-TR" sz="2000" kern="100" dirty="0">
                <a:effectLst/>
                <a:latin typeface="Franklin Gothic Medium" panose="020B06030201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tr-TR" kern="100" dirty="0">
                <a:latin typeface="Franklin Gothic Medium" panose="020B06030201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5</a:t>
            </a:r>
            <a:r>
              <a:rPr lang="en-US" sz="2000" kern="100" dirty="0">
                <a:effectLst/>
                <a:latin typeface="Franklin Gothic Medium" panose="020B06030201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20</a:t>
            </a:r>
            <a:r>
              <a:rPr lang="tr-TR" sz="2000" kern="100" dirty="0">
                <a:effectLst/>
                <a:latin typeface="Franklin Gothic Medium" panose="020B06030201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26</a:t>
            </a:r>
            <a:r>
              <a:rPr lang="en-US" sz="2000" kern="100" dirty="0">
                <a:effectLst/>
                <a:latin typeface="Franklin Gothic Medium" panose="020B06030201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lang="tr-TR" sz="2000" kern="100" dirty="0">
              <a:effectLst/>
              <a:latin typeface="Franklin Gothic Medium" panose="020B06030201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tr-TR" dirty="0"/>
              <a:t>[2]</a:t>
            </a:r>
            <a:r>
              <a:rPr lang="tr-TR" sz="2000" kern="100" dirty="0">
                <a:effectLst/>
                <a:latin typeface="Franklin Gothic Medium" panose="020B06030201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“</a:t>
            </a:r>
            <a:r>
              <a:rPr lang="en-US" sz="2000" kern="100" dirty="0">
                <a:effectLst/>
                <a:latin typeface="Franklin Gothic Medium" panose="020B06030201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How Git Internally Works</a:t>
            </a:r>
            <a:r>
              <a:rPr lang="tr-TR" sz="2000" kern="100" dirty="0">
                <a:effectLst/>
                <a:latin typeface="Franklin Gothic Medium" panose="020B06030201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”</a:t>
            </a:r>
            <a:r>
              <a:rPr lang="en-US" sz="2000" kern="100" dirty="0">
                <a:effectLst/>
                <a:latin typeface="Franklin Gothic Medium" panose="020B06030201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[Online]. Available</a:t>
            </a:r>
            <a:r>
              <a:rPr lang="tr-TR" sz="2000" kern="100" dirty="0">
                <a:effectLst/>
                <a:latin typeface="Franklin Gothic Medium" panose="020B06030201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   </a:t>
            </a:r>
            <a:r>
              <a:rPr lang="tr-TR" sz="2000" kern="100" dirty="0">
                <a:effectLst/>
                <a:latin typeface="Franklin Gothic Medium" panose="020B0603020102020204" pitchFamily="34" charset="0"/>
                <a:ea typeface="Aptos" panose="020B0004020202020204" pitchFamily="34" charset="0"/>
                <a:cs typeface="Times New Roman" panose="02020603050405020304" pitchFamily="18" charset="0"/>
                <a:hlinkClick r:id="rId3"/>
              </a:rPr>
              <a:t>https://octobot.medium.com/how-git-internally-works-1f0932067bee</a:t>
            </a:r>
            <a:r>
              <a:rPr lang="en-US" sz="2000" kern="100" dirty="0">
                <a:effectLst/>
                <a:latin typeface="Franklin Gothic Medium" panose="020B06030201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r>
              <a:rPr lang="tr-TR" sz="2000" kern="100" dirty="0">
                <a:latin typeface="Franklin Gothic Medium" panose="020B06030201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tr-TR" sz="2000" kern="100" dirty="0">
                <a:effectLst/>
                <a:latin typeface="Franklin Gothic Medium" panose="020B06030201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>
                <a:effectLst/>
                <a:latin typeface="Franklin Gothic Medium" panose="020B06030201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Accessed: </a:t>
            </a:r>
            <a:r>
              <a:rPr lang="tr-TR" sz="2000" kern="100" dirty="0" err="1">
                <a:effectLst/>
                <a:latin typeface="Franklin Gothic Medium" panose="020B06030201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August</a:t>
            </a:r>
            <a:r>
              <a:rPr lang="tr-TR" sz="2000" kern="100" dirty="0">
                <a:effectLst/>
                <a:latin typeface="Franklin Gothic Medium" panose="020B06030201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tr-TR" kern="100" dirty="0">
                <a:latin typeface="Franklin Gothic Medium" panose="020B06030201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5</a:t>
            </a:r>
            <a:r>
              <a:rPr lang="en-US" sz="2000" kern="100" dirty="0">
                <a:effectLst/>
                <a:latin typeface="Franklin Gothic Medium" panose="020B06030201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20</a:t>
            </a:r>
            <a:r>
              <a:rPr lang="tr-TR" sz="2000" kern="100" dirty="0">
                <a:effectLst/>
                <a:latin typeface="Franklin Gothic Medium" panose="020B06030201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26</a:t>
            </a:r>
            <a:r>
              <a:rPr lang="en-US" sz="2000" kern="100" dirty="0">
                <a:effectLst/>
                <a:latin typeface="Franklin Gothic Medium" panose="020B06030201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lang="tr-TR" dirty="0"/>
          </a:p>
          <a:p>
            <a:pPr marL="0" indent="0">
              <a:buNone/>
            </a:pPr>
            <a:r>
              <a:rPr lang="tr-TR" dirty="0"/>
              <a:t>[3]</a:t>
            </a:r>
            <a:r>
              <a:rPr lang="tr-TR" sz="2000" kern="100" dirty="0">
                <a:effectLst/>
                <a:latin typeface="Franklin Gothic Medium" panose="020B06030201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“</a:t>
            </a:r>
            <a:r>
              <a:rPr lang="en-US" sz="2000" kern="100" dirty="0">
                <a:effectLst/>
                <a:latin typeface="Franklin Gothic Medium" panose="020B06030201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Secure Hash Algorithms</a:t>
            </a:r>
            <a:r>
              <a:rPr lang="tr-TR" sz="2000" kern="100" dirty="0">
                <a:effectLst/>
                <a:latin typeface="Franklin Gothic Medium" panose="020B06030201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”</a:t>
            </a:r>
            <a:r>
              <a:rPr lang="en-US" sz="2000" kern="100" dirty="0">
                <a:effectLst/>
                <a:latin typeface="Franklin Gothic Medium" panose="020B06030201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[Online]. Available</a:t>
            </a:r>
            <a:r>
              <a:rPr lang="tr-TR" sz="2000" kern="100" dirty="0">
                <a:effectLst/>
                <a:latin typeface="Franklin Gothic Medium" panose="020B06030201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   </a:t>
            </a:r>
            <a:r>
              <a:rPr lang="tr-TR" sz="2000" kern="100" dirty="0">
                <a:effectLst/>
                <a:latin typeface="Franklin Gothic Medium" panose="020B0603020102020204" pitchFamily="34" charset="0"/>
                <a:ea typeface="Aptos" panose="020B0004020202020204" pitchFamily="34" charset="0"/>
                <a:cs typeface="Times New Roman" panose="02020603050405020304" pitchFamily="18" charset="0"/>
                <a:hlinkClick r:id="rId4"/>
              </a:rPr>
              <a:t>https://brilliant.org/wiki/secure-hashing-algorithms/#sha-1</a:t>
            </a:r>
            <a:r>
              <a:rPr lang="en-US" sz="2000" kern="100" dirty="0">
                <a:effectLst/>
                <a:latin typeface="Franklin Gothic Medium" panose="020B06030201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r>
              <a:rPr lang="tr-TR" sz="2000" kern="100" dirty="0">
                <a:latin typeface="Franklin Gothic Medium" panose="020B06030201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tr-TR" sz="2000" kern="100" dirty="0">
                <a:effectLst/>
                <a:latin typeface="Franklin Gothic Medium" panose="020B06030201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>
                <a:effectLst/>
                <a:latin typeface="Franklin Gothic Medium" panose="020B06030201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Accessed: </a:t>
            </a:r>
            <a:r>
              <a:rPr lang="tr-TR" sz="2000" kern="100" dirty="0" err="1">
                <a:effectLst/>
                <a:latin typeface="Franklin Gothic Medium" panose="020B06030201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August</a:t>
            </a:r>
            <a:r>
              <a:rPr lang="tr-TR" sz="2000" kern="100" dirty="0">
                <a:effectLst/>
                <a:latin typeface="Franklin Gothic Medium" panose="020B06030201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tr-TR" kern="100" dirty="0">
                <a:latin typeface="Franklin Gothic Medium" panose="020B06030201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5</a:t>
            </a:r>
            <a:r>
              <a:rPr lang="en-US" sz="2000" kern="100" dirty="0">
                <a:effectLst/>
                <a:latin typeface="Franklin Gothic Medium" panose="020B06030201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20</a:t>
            </a:r>
            <a:r>
              <a:rPr lang="tr-TR" sz="2000" kern="100" dirty="0">
                <a:effectLst/>
                <a:latin typeface="Franklin Gothic Medium" panose="020B06030201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26</a:t>
            </a:r>
            <a:r>
              <a:rPr lang="en-US" sz="2000" kern="100" dirty="0">
                <a:effectLst/>
                <a:latin typeface="Franklin Gothic Medium" panose="020B06030201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lang="tr-TR" sz="2000" kern="100" dirty="0">
              <a:effectLst/>
              <a:latin typeface="Franklin Gothic Medium" panose="020B06030201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tr-TR" dirty="0"/>
              <a:t>[4]</a:t>
            </a:r>
            <a:r>
              <a:rPr lang="tr-TR" sz="2000" kern="100" dirty="0">
                <a:effectLst/>
                <a:latin typeface="Franklin Gothic Medium" panose="020B06030201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“</a:t>
            </a:r>
            <a:r>
              <a:rPr lang="en-US" sz="2000" kern="100" dirty="0">
                <a:effectLst/>
                <a:latin typeface="Franklin Gothic Medium" panose="020B06030201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Git Basics</a:t>
            </a:r>
            <a:r>
              <a:rPr lang="tr-TR" sz="2000" kern="100" dirty="0">
                <a:effectLst/>
                <a:latin typeface="Franklin Gothic Medium" panose="020B06030201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”</a:t>
            </a:r>
            <a:r>
              <a:rPr lang="en-US" sz="2000" kern="100" dirty="0">
                <a:effectLst/>
                <a:latin typeface="Franklin Gothic Medium" panose="020B06030201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[Online]. Available</a:t>
            </a:r>
            <a:r>
              <a:rPr lang="tr-TR" sz="2000" kern="100" dirty="0">
                <a:effectLst/>
                <a:latin typeface="Franklin Gothic Medium" panose="020B06030201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   </a:t>
            </a:r>
            <a:r>
              <a:rPr lang="tr-TR" sz="2000" kern="100" dirty="0">
                <a:effectLst/>
                <a:latin typeface="Franklin Gothic Medium" panose="020B0603020102020204" pitchFamily="34" charset="0"/>
                <a:ea typeface="Aptos" panose="020B0004020202020204" pitchFamily="34" charset="0"/>
                <a:cs typeface="Times New Roman" panose="02020603050405020304" pitchFamily="18" charset="0"/>
                <a:hlinkClick r:id="rId5"/>
              </a:rPr>
              <a:t>https://schulich.libguides.com/c.php?g=722465&amp;p=5349840</a:t>
            </a:r>
            <a:r>
              <a:rPr lang="en-US" sz="2000" kern="100" dirty="0">
                <a:effectLst/>
                <a:latin typeface="Franklin Gothic Medium" panose="020B06030201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r>
              <a:rPr lang="tr-TR" sz="2000" kern="100" dirty="0">
                <a:latin typeface="Franklin Gothic Medium" panose="020B06030201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tr-TR" sz="2000" kern="100" dirty="0">
                <a:effectLst/>
                <a:latin typeface="Franklin Gothic Medium" panose="020B06030201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>
                <a:effectLst/>
                <a:latin typeface="Franklin Gothic Medium" panose="020B06030201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Accessed: </a:t>
            </a:r>
            <a:r>
              <a:rPr lang="tr-TR" sz="2000" kern="100" dirty="0" err="1">
                <a:effectLst/>
                <a:latin typeface="Franklin Gothic Medium" panose="020B06030201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August</a:t>
            </a:r>
            <a:r>
              <a:rPr lang="tr-TR" sz="2000" kern="100" dirty="0">
                <a:effectLst/>
                <a:latin typeface="Franklin Gothic Medium" panose="020B06030201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tr-TR" kern="100" dirty="0">
                <a:latin typeface="Franklin Gothic Medium" panose="020B06030201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5</a:t>
            </a:r>
            <a:r>
              <a:rPr lang="en-US" sz="2000" kern="100" dirty="0">
                <a:effectLst/>
                <a:latin typeface="Franklin Gothic Medium" panose="020B06030201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20</a:t>
            </a:r>
            <a:r>
              <a:rPr lang="tr-TR" sz="2000" kern="100" dirty="0">
                <a:effectLst/>
                <a:latin typeface="Franklin Gothic Medium" panose="020B06030201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26</a:t>
            </a:r>
            <a:r>
              <a:rPr lang="en-US" sz="2000" kern="100" dirty="0">
                <a:effectLst/>
                <a:latin typeface="Franklin Gothic Medium" panose="020B06030201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lang="tr-TR" sz="2000" kern="100" dirty="0">
              <a:effectLst/>
              <a:latin typeface="Franklin Gothic Medium" panose="020B06030201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96184C-0612-F093-0891-E92B1EF9BF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CD173-550D-4E5A-B412-AE397B3FDF7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5512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1FF64-446D-3BD5-54E4-8C97D0625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REFERRENCES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2B8328-F4D4-4753-B6D4-58159CD725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tr-TR" dirty="0"/>
              <a:t>[5]</a:t>
            </a:r>
            <a:r>
              <a:rPr lang="tr-TR" sz="2000" kern="100" dirty="0">
                <a:effectLst/>
                <a:latin typeface="Franklin Gothic Medium" panose="020B06030201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“</a:t>
            </a:r>
            <a:r>
              <a:rPr lang="en-US" sz="2000" kern="100" dirty="0">
                <a:effectLst/>
                <a:latin typeface="Franklin Gothic Medium" panose="020B06030201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Git Init</a:t>
            </a:r>
            <a:r>
              <a:rPr lang="tr-TR" sz="2000" kern="100" dirty="0">
                <a:effectLst/>
                <a:latin typeface="Franklin Gothic Medium" panose="020B06030201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”</a:t>
            </a:r>
            <a:r>
              <a:rPr lang="en-US" sz="2000" kern="100" dirty="0">
                <a:effectLst/>
                <a:latin typeface="Franklin Gothic Medium" panose="020B06030201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[Online]. Available</a:t>
            </a:r>
            <a:r>
              <a:rPr lang="tr-TR" sz="2000" kern="100" dirty="0">
                <a:effectLst/>
                <a:latin typeface="Franklin Gothic Medium" panose="020B06030201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   </a:t>
            </a:r>
            <a:r>
              <a:rPr lang="tr-TR" sz="2000" kern="100" dirty="0">
                <a:effectLst/>
                <a:latin typeface="Franklin Gothic Medium" panose="020B0603020102020204" pitchFamily="34" charset="0"/>
                <a:ea typeface="Aptos" panose="020B0004020202020204" pitchFamily="34" charset="0"/>
                <a:cs typeface="Times New Roman" panose="02020603050405020304" pitchFamily="18" charset="0"/>
                <a:hlinkClick r:id="rId2"/>
              </a:rPr>
              <a:t>https://www.geeksforgeeks.org/git/what-is-git-init/</a:t>
            </a:r>
            <a:r>
              <a:rPr lang="en-US" sz="2000" kern="100" dirty="0">
                <a:effectLst/>
                <a:latin typeface="Franklin Gothic Medium" panose="020B06030201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r>
              <a:rPr lang="tr-TR" sz="2000" kern="100" dirty="0">
                <a:latin typeface="Franklin Gothic Medium" panose="020B06030201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tr-TR" sz="2000" kern="100" dirty="0">
                <a:effectLst/>
                <a:latin typeface="Franklin Gothic Medium" panose="020B06030201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>
                <a:effectLst/>
                <a:latin typeface="Franklin Gothic Medium" panose="020B06030201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Accessed: </a:t>
            </a:r>
            <a:r>
              <a:rPr lang="tr-TR" sz="2000" kern="100" dirty="0" err="1">
                <a:effectLst/>
                <a:latin typeface="Franklin Gothic Medium" panose="020B06030201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August</a:t>
            </a:r>
            <a:r>
              <a:rPr lang="tr-TR" sz="2000" kern="100" dirty="0">
                <a:effectLst/>
                <a:latin typeface="Franklin Gothic Medium" panose="020B06030201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tr-TR" kern="100" dirty="0">
                <a:latin typeface="Franklin Gothic Medium" panose="020B06030201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5</a:t>
            </a:r>
            <a:r>
              <a:rPr lang="en-US" sz="2000" kern="100" dirty="0">
                <a:effectLst/>
                <a:latin typeface="Franklin Gothic Medium" panose="020B06030201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20</a:t>
            </a:r>
            <a:r>
              <a:rPr lang="tr-TR" sz="2000" kern="100" dirty="0">
                <a:effectLst/>
                <a:latin typeface="Franklin Gothic Medium" panose="020B06030201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26</a:t>
            </a:r>
            <a:r>
              <a:rPr lang="en-US" sz="2000" kern="100" dirty="0">
                <a:effectLst/>
                <a:latin typeface="Franklin Gothic Medium" panose="020B06030201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lang="tr-TR" sz="2000" kern="100" dirty="0">
              <a:effectLst/>
              <a:latin typeface="Franklin Gothic Medium" panose="020B06030201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tr-TR" dirty="0"/>
              <a:t>[6]</a:t>
            </a:r>
            <a:r>
              <a:rPr lang="tr-TR" sz="2000" kern="100" dirty="0">
                <a:effectLst/>
                <a:latin typeface="Franklin Gothic Medium" panose="020B06030201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“</a:t>
            </a:r>
            <a:r>
              <a:rPr lang="en-US" sz="2000" kern="100" dirty="0">
                <a:effectLst/>
                <a:latin typeface="Franklin Gothic Medium" panose="020B06030201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Git commit</a:t>
            </a:r>
            <a:r>
              <a:rPr lang="tr-TR" sz="2000" kern="100" dirty="0">
                <a:effectLst/>
                <a:latin typeface="Franklin Gothic Medium" panose="020B06030201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”</a:t>
            </a:r>
            <a:r>
              <a:rPr lang="en-US" sz="2000" kern="100" dirty="0">
                <a:effectLst/>
                <a:latin typeface="Franklin Gothic Medium" panose="020B06030201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[Online]. Available</a:t>
            </a:r>
            <a:r>
              <a:rPr lang="tr-TR" sz="2000" kern="100" dirty="0">
                <a:effectLst/>
                <a:latin typeface="Franklin Gothic Medium" panose="020B06030201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</a:t>
            </a:r>
            <a:r>
              <a:rPr lang="tr-TR" sz="2000" kern="100" dirty="0">
                <a:effectLst/>
                <a:latin typeface="Franklin Gothic Medium" panose="020B0603020102020204" pitchFamily="34" charset="0"/>
                <a:ea typeface="Aptos" panose="020B0004020202020204" pitchFamily="34" charset="0"/>
                <a:cs typeface="Times New Roman" panose="02020603050405020304" pitchFamily="18" charset="0"/>
                <a:hlinkClick r:id="rId3"/>
              </a:rPr>
              <a:t>https://www.atlassian.com/git/tutorials/saving-changes/git-commit</a:t>
            </a:r>
            <a:r>
              <a:rPr lang="en-US" sz="2000" kern="100" dirty="0">
                <a:effectLst/>
                <a:latin typeface="Franklin Gothic Medium" panose="020B06030201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r>
              <a:rPr lang="tr-TR" sz="2000" kern="100" dirty="0">
                <a:latin typeface="Franklin Gothic Medium" panose="020B06030201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tr-TR" sz="2000" kern="100" dirty="0">
                <a:effectLst/>
                <a:latin typeface="Franklin Gothic Medium" panose="020B06030201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>
                <a:effectLst/>
                <a:latin typeface="Franklin Gothic Medium" panose="020B06030201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Accessed: </a:t>
            </a:r>
            <a:r>
              <a:rPr lang="tr-TR" sz="2000" kern="100" dirty="0" err="1">
                <a:effectLst/>
                <a:latin typeface="Franklin Gothic Medium" panose="020B06030201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August</a:t>
            </a:r>
            <a:r>
              <a:rPr lang="tr-TR" sz="2000" kern="100" dirty="0">
                <a:effectLst/>
                <a:latin typeface="Franklin Gothic Medium" panose="020B06030201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tr-TR" kern="100" dirty="0">
                <a:latin typeface="Franklin Gothic Medium" panose="020B06030201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5</a:t>
            </a:r>
            <a:r>
              <a:rPr lang="en-US" sz="2000" kern="100" dirty="0">
                <a:effectLst/>
                <a:latin typeface="Franklin Gothic Medium" panose="020B06030201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20</a:t>
            </a:r>
            <a:r>
              <a:rPr lang="tr-TR" sz="2000" kern="100" dirty="0">
                <a:effectLst/>
                <a:latin typeface="Franklin Gothic Medium" panose="020B06030201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26</a:t>
            </a:r>
            <a:r>
              <a:rPr lang="en-US" sz="2000" kern="100" dirty="0">
                <a:effectLst/>
                <a:latin typeface="Franklin Gothic Medium" panose="020B06030201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lang="tr-TR" dirty="0"/>
          </a:p>
          <a:p>
            <a:pPr marL="0" indent="0">
              <a:buNone/>
            </a:pPr>
            <a:r>
              <a:rPr lang="tr-TR" dirty="0"/>
              <a:t>[7]</a:t>
            </a:r>
            <a:r>
              <a:rPr lang="tr-TR" sz="2000" kern="100" dirty="0">
                <a:effectLst/>
                <a:latin typeface="Franklin Gothic Medium" panose="020B06030201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“</a:t>
            </a:r>
            <a:r>
              <a:rPr lang="en-US" sz="2000" kern="100" dirty="0">
                <a:effectLst/>
                <a:latin typeface="Franklin Gothic Medium" panose="020B06030201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GİT NEDİR VE TEMEL GİT KOMUTLARI NELERDİR?</a:t>
            </a:r>
            <a:r>
              <a:rPr lang="tr-TR" sz="2000" kern="100" dirty="0">
                <a:effectLst/>
                <a:latin typeface="Franklin Gothic Medium" panose="020B06030201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”</a:t>
            </a:r>
            <a:r>
              <a:rPr lang="en-US" sz="2000" kern="100" dirty="0">
                <a:effectLst/>
                <a:latin typeface="Franklin Gothic Medium" panose="020B06030201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[Online]. Available</a:t>
            </a:r>
            <a:r>
              <a:rPr lang="tr-TR" sz="2000" kern="100" dirty="0">
                <a:effectLst/>
                <a:latin typeface="Franklin Gothic Medium" panose="020B06030201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   </a:t>
            </a:r>
            <a:r>
              <a:rPr lang="tr-TR" sz="2000" kern="100" dirty="0">
                <a:effectLst/>
                <a:latin typeface="Franklin Gothic Medium" panose="020B0603020102020204" pitchFamily="34" charset="0"/>
                <a:ea typeface="Aptos" panose="020B0004020202020204" pitchFamily="34" charset="0"/>
                <a:cs typeface="Times New Roman" panose="02020603050405020304" pitchFamily="18" charset="0"/>
                <a:hlinkClick r:id="rId4"/>
              </a:rPr>
              <a:t>https://medium.com/@hazallgultekin/git-nedir-ve-temel-git-komutları-nelerdir-fc9be54348f2</a:t>
            </a:r>
            <a:r>
              <a:rPr lang="en-US" sz="2000" kern="100" dirty="0">
                <a:effectLst/>
                <a:latin typeface="Franklin Gothic Medium" panose="020B06030201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r>
              <a:rPr lang="tr-TR" sz="2000" kern="100" dirty="0">
                <a:latin typeface="Franklin Gothic Medium" panose="020B06030201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tr-TR" sz="2000" kern="100" dirty="0">
                <a:effectLst/>
                <a:latin typeface="Franklin Gothic Medium" panose="020B06030201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>
                <a:effectLst/>
                <a:latin typeface="Franklin Gothic Medium" panose="020B06030201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Accessed: </a:t>
            </a:r>
            <a:r>
              <a:rPr lang="tr-TR" sz="2000" kern="100" dirty="0" err="1">
                <a:effectLst/>
                <a:latin typeface="Franklin Gothic Medium" panose="020B06030201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August</a:t>
            </a:r>
            <a:r>
              <a:rPr lang="tr-TR" sz="2000" kern="100" dirty="0">
                <a:effectLst/>
                <a:latin typeface="Franklin Gothic Medium" panose="020B06030201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tr-TR" kern="100" dirty="0">
                <a:latin typeface="Franklin Gothic Medium" panose="020B06030201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5</a:t>
            </a:r>
            <a:r>
              <a:rPr lang="en-US" sz="2000" kern="100" dirty="0">
                <a:effectLst/>
                <a:latin typeface="Franklin Gothic Medium" panose="020B06030201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20</a:t>
            </a:r>
            <a:r>
              <a:rPr lang="tr-TR" sz="2000" kern="100" dirty="0">
                <a:effectLst/>
                <a:latin typeface="Franklin Gothic Medium" panose="020B06030201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26</a:t>
            </a:r>
            <a:r>
              <a:rPr lang="en-US" sz="2000" kern="100" dirty="0">
                <a:effectLst/>
                <a:latin typeface="Franklin Gothic Medium" panose="020B06030201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lang="tr-TR" sz="2000" kern="100" dirty="0">
              <a:effectLst/>
              <a:latin typeface="Franklin Gothic Medium" panose="020B06030201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tr-TR" dirty="0"/>
              <a:t>[8]</a:t>
            </a:r>
            <a:r>
              <a:rPr lang="tr-TR" sz="2000" kern="100" dirty="0">
                <a:effectLst/>
                <a:latin typeface="Franklin Gothic Medium" panose="020B06030201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“</a:t>
            </a:r>
            <a:r>
              <a:rPr lang="en-US" sz="2000" kern="100" dirty="0">
                <a:effectLst/>
                <a:latin typeface="Franklin Gothic Medium" panose="020B06030201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CS102-Git-Tutorial</a:t>
            </a:r>
            <a:r>
              <a:rPr lang="tr-TR" sz="2000" kern="100" dirty="0">
                <a:effectLst/>
                <a:latin typeface="Franklin Gothic Medium" panose="020B06030201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”</a:t>
            </a:r>
            <a:r>
              <a:rPr lang="en-US" sz="2000" kern="100" dirty="0">
                <a:effectLst/>
                <a:latin typeface="Franklin Gothic Medium" panose="020B06030201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[Online]. Available</a:t>
            </a:r>
            <a:r>
              <a:rPr lang="tr-TR" sz="2000" kern="100">
                <a:effectLst/>
                <a:latin typeface="Franklin Gothic Medium" panose="020B06030201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   </a:t>
            </a:r>
            <a:r>
              <a:rPr lang="tr-TR" sz="2000" kern="100">
                <a:effectLst/>
                <a:latin typeface="Franklin Gothic Medium" panose="020B0603020102020204" pitchFamily="34" charset="0"/>
                <a:ea typeface="Aptos" panose="020B0004020202020204" pitchFamily="34" charset="0"/>
                <a:cs typeface="Times New Roman" panose="02020603050405020304" pitchFamily="18" charset="0"/>
                <a:hlinkClick r:id="rId5"/>
              </a:rPr>
              <a:t>https://github.com/CankutBoraTuncer/CS102-Git-Tutorial</a:t>
            </a:r>
            <a:r>
              <a:rPr lang="en-US" sz="2000" kern="100">
                <a:effectLst/>
                <a:latin typeface="Franklin Gothic Medium" panose="020B06030201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r>
              <a:rPr lang="tr-TR" sz="2000" kern="100" dirty="0">
                <a:latin typeface="Franklin Gothic Medium" panose="020B06030201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tr-TR" sz="2000" kern="100" dirty="0">
                <a:effectLst/>
                <a:latin typeface="Franklin Gothic Medium" panose="020B06030201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>
                <a:effectLst/>
                <a:latin typeface="Franklin Gothic Medium" panose="020B06030201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Accessed: </a:t>
            </a:r>
            <a:r>
              <a:rPr lang="tr-TR" sz="2000" kern="100" dirty="0" err="1">
                <a:effectLst/>
                <a:latin typeface="Franklin Gothic Medium" panose="020B06030201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August</a:t>
            </a:r>
            <a:r>
              <a:rPr lang="tr-TR" sz="2000" kern="100" dirty="0">
                <a:effectLst/>
                <a:latin typeface="Franklin Gothic Medium" panose="020B06030201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tr-TR" kern="100" dirty="0">
                <a:latin typeface="Franklin Gothic Medium" panose="020B06030201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5</a:t>
            </a:r>
            <a:r>
              <a:rPr lang="en-US" sz="2000" kern="100" dirty="0">
                <a:effectLst/>
                <a:latin typeface="Franklin Gothic Medium" panose="020B06030201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20</a:t>
            </a:r>
            <a:r>
              <a:rPr lang="tr-TR" sz="2000" kern="100" dirty="0">
                <a:effectLst/>
                <a:latin typeface="Franklin Gothic Medium" panose="020B06030201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26</a:t>
            </a:r>
            <a:r>
              <a:rPr lang="en-US" sz="2000" kern="100" dirty="0">
                <a:effectLst/>
                <a:latin typeface="Franklin Gothic Medium" panose="020B06030201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lang="tr-TR" sz="2000" kern="100" dirty="0">
              <a:effectLst/>
              <a:latin typeface="Franklin Gothic Medium" panose="020B06030201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96184C-0612-F093-0891-E92B1EF9BF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CD173-550D-4E5A-B412-AE397B3FDF7A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62904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03E96C-981D-A912-405D-B140364FF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3638" y="2728735"/>
            <a:ext cx="9404723" cy="1400530"/>
          </a:xfrm>
        </p:spPr>
        <p:txBody>
          <a:bodyPr/>
          <a:lstStyle/>
          <a:p>
            <a:pPr algn="ctr"/>
            <a:r>
              <a:rPr lang="tr-TR" dirty="0" err="1"/>
              <a:t>Thanks</a:t>
            </a:r>
            <a:r>
              <a:rPr lang="tr-TR" dirty="0"/>
              <a:t> </a:t>
            </a:r>
            <a:r>
              <a:rPr lang="tr-TR" dirty="0" err="1"/>
              <a:t>for</a:t>
            </a:r>
            <a:r>
              <a:rPr lang="tr-TR" dirty="0"/>
              <a:t> </a:t>
            </a:r>
            <a:r>
              <a:rPr lang="tr-TR" dirty="0" err="1"/>
              <a:t>listening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1E9062-5827-2751-0CBA-B1FFEDFEE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CD173-550D-4E5A-B412-AE397B3FDF7A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62148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149</TotalTime>
  <Words>555</Words>
  <Application>Microsoft Office PowerPoint</Application>
  <PresentationFormat>Widescreen</PresentationFormat>
  <Paragraphs>108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Aptos</vt:lpstr>
      <vt:lpstr>Arial</vt:lpstr>
      <vt:lpstr>Century Gothic</vt:lpstr>
      <vt:lpstr>Franklin Gothic Medium</vt:lpstr>
      <vt:lpstr>Wingdings 3</vt:lpstr>
      <vt:lpstr>Ion</vt:lpstr>
      <vt:lpstr>GIT</vt:lpstr>
      <vt:lpstr>WHAT IS GIT?</vt:lpstr>
      <vt:lpstr>PROS  AND   CONS</vt:lpstr>
      <vt:lpstr>HOW DOES GIT WORK?</vt:lpstr>
      <vt:lpstr>BASIC GIT COMMANDS</vt:lpstr>
      <vt:lpstr>Git init</vt:lpstr>
      <vt:lpstr>Git clone</vt:lpstr>
      <vt:lpstr>Git add</vt:lpstr>
      <vt:lpstr>Git commit</vt:lpstr>
      <vt:lpstr>Git status</vt:lpstr>
      <vt:lpstr>Git log and Git diff</vt:lpstr>
      <vt:lpstr>Conclusion </vt:lpstr>
      <vt:lpstr>REFERRENCES </vt:lpstr>
      <vt:lpstr>REFERRENCES </vt:lpstr>
      <vt:lpstr>Thanks for listening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Utku Zorer</dc:creator>
  <cp:lastModifiedBy>Utku Zorer</cp:lastModifiedBy>
  <cp:revision>4</cp:revision>
  <dcterms:created xsi:type="dcterms:W3CDTF">2026-08-05T10:00:47Z</dcterms:created>
  <dcterms:modified xsi:type="dcterms:W3CDTF">2026-08-05T13:11:21Z</dcterms:modified>
</cp:coreProperties>
</file>